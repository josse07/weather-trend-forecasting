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7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D62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0B3D62"/>
                </a:solidFill>
                <a:latin typeface="Calibri"/>
              </a:rPr>
              <a:t>Mean Absolute Error (lower is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(°C)</c:v>
                </c:pt>
              </c:strCache>
            </c:strRef>
          </c:tx>
          <c:spPr>
            <a:solidFill>
              <a:srgbClr val="4A90B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BBD-47AD-97D7-43C7D8623F12}"/>
              </c:ext>
            </c:extLst>
          </c:dPt>
          <c:dPt>
            <c:idx val="1"/>
            <c:invertIfNegative val="0"/>
            <c:bubble3D val="0"/>
            <c:spPr>
              <a:solidFill>
                <a:srgbClr val="F2A5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BBD-47AD-97D7-43C7D8623F12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A3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Naive persistence</c:v>
                </c:pt>
                <c:pt idx="1">
                  <c:v>Linear Regression
+ seasonality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0.59</c:v>
                </c:pt>
                <c:pt idx="1">
                  <c:v>0.45400000000000001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BBD-47AD-97D7-43C7D8623F1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D62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0B3D62"/>
                </a:solidFill>
                <a:latin typeface="Calibri"/>
              </a:rPr>
              <a:t>MAE by model (lower is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(°C)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6A5-4671-98DE-F2F8B2201F00}"/>
              </c:ext>
            </c:extLst>
          </c:dPt>
          <c:dPt>
            <c:idx val="1"/>
            <c:invertIfNegative val="0"/>
            <c:bubble3D val="0"/>
            <c:spPr>
              <a:solidFill>
                <a:srgbClr val="4A90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6A5-4671-98DE-F2F8B2201F00}"/>
              </c:ext>
            </c:extLst>
          </c:dPt>
          <c:dPt>
            <c:idx val="2"/>
            <c:invertIfNegative val="0"/>
            <c:bubble3D val="0"/>
            <c:spPr>
              <a:solidFill>
                <a:srgbClr val="4A90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6A5-4671-98DE-F2F8B2201F00}"/>
              </c:ext>
            </c:extLst>
          </c:dPt>
          <c:dPt>
            <c:idx val="3"/>
            <c:invertIfNegative val="0"/>
            <c:bubble3D val="0"/>
            <c:spPr>
              <a:solidFill>
                <a:srgbClr val="4A90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6A5-4671-98DE-F2F8B2201F00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66A5-4671-98DE-F2F8B2201F00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1B2A3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Linear
Regression</c:v>
                </c:pt>
                <c:pt idx="1">
                  <c:v>SARIMAX</c:v>
                </c:pt>
                <c:pt idx="2">
                  <c:v>XGBoost</c:v>
                </c:pt>
                <c:pt idx="3">
                  <c:v>Momentum
(lag-based)</c:v>
                </c:pt>
                <c:pt idx="4">
                  <c:v>Ensemble
(4-model avg)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0.44900000000000001</c:v>
                </c:pt>
                <c:pt idx="1">
                  <c:v>0.46500000000000002</c:v>
                </c:pt>
                <c:pt idx="2">
                  <c:v>0.52800000000000002</c:v>
                </c:pt>
                <c:pt idx="3">
                  <c:v>0.53800000000000003</c:v>
                </c:pt>
                <c:pt idx="4">
                  <c:v>0.44900000000000001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6A5-4671-98DE-F2F8B2201F0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B2A3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4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6720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4754880" cy="475488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160520"/>
            <a:ext cx="2926080" cy="2926080"/>
          </a:xfrm>
          <a:prstGeom prst="ellipse">
            <a:avLst/>
          </a:prstGeom>
          <a:solidFill>
            <a:srgbClr val="134463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134463"/>
          </a:solidFill>
          <a:ln/>
        </p:spPr>
      </p:sp>
      <p:pic>
        <p:nvPicPr>
          <p:cNvPr id="5" name="Image 0" descr="/home/claude/icons/icon_s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945" y="929945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TREND FORECASTING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5204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cleaning to multi-model ensembles — a PM Accelerator technical assessment, basic through advanced tier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4251960"/>
            <a:ext cx="2194560" cy="0"/>
          </a:xfrm>
          <a:prstGeom prst="line">
            <a:avLst/>
          </a:prstGeom>
          <a:noFill/>
          <a:ln w="38100">
            <a:solidFill>
              <a:srgbClr val="F2A54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Ayoola Balogun  ·  Global Weather Repository Dataset (Kaggle)</a:t>
            </a:r>
            <a:endParaRPr lang="en-US" sz="1300" dirty="0"/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8BE502D1-ABEE-4D36-BAF5-935F27BF8604}"/>
              </a:ext>
            </a:extLst>
          </p:cNvPr>
          <p:cNvSpPr/>
          <p:nvPr/>
        </p:nvSpPr>
        <p:spPr>
          <a:xfrm>
            <a:off x="9692640" y="-365760"/>
            <a:ext cx="2926080" cy="2926080"/>
          </a:xfrm>
          <a:prstGeom prst="ellipse">
            <a:avLst/>
          </a:prstGeom>
          <a:solidFill>
            <a:srgbClr val="13446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 Accelerator Mission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FE3EE"/>
            </a:solidFill>
            <a:prstDash val="solid"/>
          </a:ln>
          <a:effectLst>
            <a:outerShdw blurRad="152400" dist="38100" dir="5400000" algn="bl" rotWithShape="0">
              <a:srgbClr val="1B2A3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640080" cy="64008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6" name="Image 0" descr="/home/claude/icons/icon_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890" y="209489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11680"/>
            <a:ext cx="9502750" cy="2896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0" i="0" dirty="0">
                <a:solidFill>
                  <a:srgbClr val="0070C0"/>
                </a:solidFill>
                <a:effectLst/>
                <a:latin typeface="Raleway" pitchFamily="2" charset="0"/>
              </a:rPr>
              <a:t>We’ve designed this platform to offer training, education, and job opportunities for Product Managers, </a:t>
            </a:r>
            <a:r>
              <a:rPr lang="en-US" sz="1600" b="1" i="0" dirty="0">
                <a:solidFill>
                  <a:srgbClr val="0070C0"/>
                </a:solidFill>
                <a:effectLst/>
                <a:latin typeface="Raleway" pitchFamily="2" charset="0"/>
              </a:rPr>
              <a:t>creating room for constant improvement and shaping the next generation of PMs.</a:t>
            </a:r>
            <a:r>
              <a:rPr lang="en-US" sz="1600" b="0" i="0" dirty="0">
                <a:solidFill>
                  <a:srgbClr val="0070C0"/>
                </a:solidFill>
                <a:effectLst/>
                <a:latin typeface="Raleway" pitchFamily="2" charset="0"/>
              </a:rPr>
              <a:t> Whether you’re a newbie or you’ve spent years in the industry, you’re guaranteed to find a new opportunity with the help of PM Accelerator.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600" b="0" i="0" dirty="0">
                <a:solidFill>
                  <a:srgbClr val="0070C0"/>
                </a:solidFill>
                <a:effectLst/>
                <a:latin typeface="Raleway" pitchFamily="2" charset="0"/>
              </a:rPr>
              <a:t>By making industry-leading tools and education available to individuals from all backgrounds,</a:t>
            </a:r>
            <a:r>
              <a:rPr lang="en-US" sz="1600" b="1" i="0" dirty="0">
                <a:solidFill>
                  <a:srgbClr val="0070C0"/>
                </a:solidFill>
                <a:effectLst/>
                <a:latin typeface="Raleway" pitchFamily="2" charset="0"/>
              </a:rPr>
              <a:t> we level the playing field for future PM leaders.</a:t>
            </a:r>
            <a:r>
              <a:rPr lang="en-US" sz="1600" b="0" i="0" dirty="0">
                <a:solidFill>
                  <a:srgbClr val="0070C0"/>
                </a:solidFill>
                <a:effectLst/>
                <a:latin typeface="Raleway" pitchFamily="2" charset="0"/>
              </a:rPr>
              <a:t> This is the PM Accelerator motto, as we grant aspiring and experienced PMs what they need most – Access. We introduce you to industry leaders, </a:t>
            </a:r>
            <a:r>
              <a:rPr lang="en-US" sz="1600" b="1" i="0" dirty="0">
                <a:solidFill>
                  <a:srgbClr val="0070C0"/>
                </a:solidFill>
                <a:effectLst/>
                <a:latin typeface="Raleway" pitchFamily="2" charset="0"/>
              </a:rPr>
              <a:t>surround you with the right PM ecosystem</a:t>
            </a:r>
            <a:r>
              <a:rPr lang="en-US" sz="1600" b="0" i="0" dirty="0">
                <a:solidFill>
                  <a:srgbClr val="0070C0"/>
                </a:solidFill>
                <a:effectLst/>
                <a:latin typeface="Raleway" pitchFamily="2" charset="0"/>
              </a:rPr>
              <a:t>, and discover the new world of AI product management skills. https://www.linkedin.com/school/pmaccelerator/</a:t>
            </a:r>
            <a:endParaRPr lang="en-US" sz="1700" dirty="0">
              <a:solidFill>
                <a:srgbClr val="0070C0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Trend Forecasting  |  PM Accelerator Technical Assessment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Weather Repository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weather readings scraped from a live weather API, covering the world at city-level granularity.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CFE3EE"/>
            </a:solidFill>
            <a:prstDash val="solid"/>
          </a:ln>
          <a:effectLst>
            <a:outerShdw blurRad="127000" dist="25400" dir="5400000" algn="bl" rotWithShape="0">
              <a:srgbClr val="1B2A35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85900" y="2651760"/>
            <a:ext cx="731520" cy="73152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7" name="Image 0" descr="/home/claude/icons/icon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998" y="2746858"/>
            <a:ext cx="541325" cy="5413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5661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162,939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85800" y="4206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 ×  41 features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10712" y="233172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CFE3EE"/>
            </a:solidFill>
            <a:prstDash val="solid"/>
          </a:ln>
          <a:effectLst>
            <a:outerShdw blurRad="127000" dist="25400" dir="5400000" algn="bl" rotWithShape="0">
              <a:srgbClr val="1B2A35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47972" y="2651760"/>
            <a:ext cx="731520" cy="73152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12" name="Image 1" descr="/home/claude/icons/icon_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070" y="2746858"/>
            <a:ext cx="541325" cy="5413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47872" y="35661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211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3547872" y="4206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covered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72784" y="233172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CFE3EE"/>
            </a:solidFill>
            <a:prstDash val="solid"/>
          </a:ln>
          <a:effectLst>
            <a:outerShdw blurRad="127000" dist="25400" dir="5400000" algn="bl" rotWithShape="0">
              <a:srgbClr val="1B2A35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210044" y="2651760"/>
            <a:ext cx="731520" cy="73152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17" name="Image 2" descr="/home/claude/icons/icon_mapp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5142" y="2746858"/>
            <a:ext cx="541325" cy="5413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9944" y="35661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268</a:t>
            </a:r>
            <a:endParaRPr lang="en-US" sz="2400" dirty="0"/>
          </a:p>
        </p:txBody>
      </p:sp>
      <p:sp>
        <p:nvSpPr>
          <p:cNvPr id="19" name="Text 14"/>
          <p:cNvSpPr/>
          <p:nvPr/>
        </p:nvSpPr>
        <p:spPr>
          <a:xfrm>
            <a:off x="6409944" y="4206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locations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9134856" y="233172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CFE3EE"/>
            </a:solidFill>
            <a:prstDash val="solid"/>
          </a:ln>
          <a:effectLst>
            <a:outerShdw blurRad="127000" dist="25400" dir="5400000" algn="bl" rotWithShape="0">
              <a:srgbClr val="1B2A35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072116" y="2651760"/>
            <a:ext cx="731520" cy="73152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22" name="Image 3" descr="/home/claude/icons/icon_calend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7214" y="2746858"/>
            <a:ext cx="541325" cy="5413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2016" y="35661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 2024 – Sep 2026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9272016" y="4206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daily-updating time span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48640" y="5349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global average daily temperature (°C)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Trend Forecasting  |  PM Accelerator Technical Assessment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TIER · STEP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Preprocessing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missing values </a:t>
            </a:r>
            <a:r>
              <a:rPr lang="en-US" sz="145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162,939 × 41 cells — plausible for a live, API-scraped dataset. But that's not the same as clean.
</a:t>
            </a:r>
            <a:r>
              <a:rPr lang="en-US" sz="14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min/max plausibility sweep </a:t>
            </a:r>
            <a:r>
              <a:rPr lang="en-US" sz="145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surfaced corruption the missing-value check couldn't see: individually impossible readings hiding in otherwise complete rows.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CFE3EE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4389120"/>
            <a:ext cx="548640" cy="54864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7" name="Image 0" descr="/home/claude/icons/icon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" y="4460443"/>
            <a:ext cx="405994" cy="4059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4315968"/>
            <a:ext cx="42976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context saved good data:  </a:t>
            </a:r>
            <a:r>
              <a:rPr lang="en-US" sz="125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rows flagged as "low pressure outliers" turned out to be high-altitude cities (Addis Ababa, Mexico City, Nairobi...) — genuine physics, not errors. Only 2 of 14 were real corruption.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394960" cy="425196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CFE3EE"/>
            </a:solidFill>
            <a:prstDash val="solid"/>
          </a:ln>
          <a:effectLst>
            <a:outerShdw blurRad="127000" dist="25400" dir="5400000" algn="bl" rotWithShape="0">
              <a:srgbClr val="1B2A35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810512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1" name="Image 1" descr="/home/claude/icons/icon_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620" y="1875892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8288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corrupted rows dropped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492240" y="2514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8001000" y="25146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79.3°C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492240" y="282549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Suva, Fiji — hottest ever recorded on Earth is 56.7°C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492240" y="335584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speed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8001000" y="335584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1,841 mph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492240" y="366674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Bujumbura, Burundi — no surface wind on record exceeds ~253 mph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492240" y="419709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8001000" y="419709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3,006 mb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492240" y="450799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Tegucigalpa, Honduras — ~3× normal sea-level pressure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492240" y="5038344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8001000" y="503834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 mb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6492240" y="53492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Tehran, Iran — same implausible spike, separate date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Trend Forecasting  |  PM Accelerator Technical Assessment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TIER · STEP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000" dirty="0"/>
          </a:p>
        </p:txBody>
      </p:sp>
      <p:pic>
        <p:nvPicPr>
          <p:cNvPr id="4" name="Image 0" descr="/home/claude/nb_images/cell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7863840" cy="27706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41080" y="1463040"/>
            <a:ext cx="3017520" cy="4526280"/>
          </a:xfrm>
          <a:prstGeom prst="roundRect">
            <a:avLst>
              <a:gd name="adj" fmla="val 3030"/>
            </a:avLst>
          </a:prstGeom>
          <a:solidFill>
            <a:srgbClr val="0B3D62"/>
          </a:solidFill>
          <a:ln/>
        </p:spPr>
      </p:sp>
      <p:sp>
        <p:nvSpPr>
          <p:cNvPr id="6" name="Shape 3"/>
          <p:cNvSpPr/>
          <p:nvPr/>
        </p:nvSpPr>
        <p:spPr>
          <a:xfrm>
            <a:off x="8915400" y="1737360"/>
            <a:ext cx="594360" cy="594360"/>
          </a:xfrm>
          <a:prstGeom prst="ellipse">
            <a:avLst/>
          </a:prstGeom>
          <a:solidFill>
            <a:srgbClr val="4A90B8"/>
          </a:solidFill>
          <a:ln/>
        </p:spPr>
      </p:sp>
      <p:pic>
        <p:nvPicPr>
          <p:cNvPr id="7" name="Image 1" descr="/home/claude/icons/icon_ther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2667" y="1814627"/>
            <a:ext cx="439826" cy="43982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915400" y="2423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915400" y="2743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normal, centered 24–26°C.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8915400" y="3429000"/>
            <a:ext cx="594360" cy="59436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1" name="Image 2" descr="/home/claude/icons/icon_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2667" y="3506267"/>
            <a:ext cx="439826" cy="43982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915400" y="4114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Precipitation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8915400" y="443484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Heavily right-skewed — mostly 0mm, long tail. Log-transform before distance-based modeling.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Trend Forecasting  |  PM Accelerator Technical Assessment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TIER · STEP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Clear Seasonal Signal — With Some Wrinkles</a:t>
            </a:r>
            <a:endParaRPr lang="en-US" sz="3000" dirty="0"/>
          </a:p>
        </p:txBody>
      </p:sp>
      <p:pic>
        <p:nvPicPr>
          <p:cNvPr id="4" name="Image 0" descr="/home/claude/nb_images/cell_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11064240" cy="44636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89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annual cycle (peak ~Jun–Jul, trough ~Dec–Jan) — but with sharp single-day dips that don't fit the pattern. Investigated in the Anomaly Detection step.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Trend Forecasting  |  PM Accelerator Technical Assessment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TIER · STEP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Forecasting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with a trend term plus annual Fourier (sin/cos) seasonal terms, evaluated on a temporal holdout against a naive persistence baseline.</a:t>
            </a:r>
            <a:endParaRPr lang="en-US" sz="13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103120"/>
          <a:ext cx="557784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446520" y="2103120"/>
            <a:ext cx="521208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CFE3EE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2331720"/>
          <a:ext cx="4754880" cy="1613916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persistence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3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 + seasonality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3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3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3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675120" y="416052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9" name="Image 0" descr="/home/claude/icons/icon_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6443" y="4231843"/>
            <a:ext cx="405994" cy="40599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06640" y="416052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~23% </a:t>
            </a:r>
            <a:r>
              <a:rPr lang="en-US" sz="125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MAE vs. the naive baseline — the seasonal structure is doing real work, not just fitting noise.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Trend Forecasting  |  PM Accelerator Technical Assessment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TIER · STEP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Detection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Isolation Forest across 7 features (temperature, humidity, wind, pressure, precipitation, cloud cover, UV index), flagging the top 1% as anomalous.</a:t>
            </a:r>
            <a:endParaRPr lang="en-US" sz="1300" dirty="0"/>
          </a:p>
        </p:txBody>
      </p:sp>
      <p:pic>
        <p:nvPicPr>
          <p:cNvPr id="5" name="Image 0" descr="/home/claude/nb_images/cell_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74520"/>
            <a:ext cx="7589520" cy="2683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12480" y="1874520"/>
            <a:ext cx="3246120" cy="4480560"/>
          </a:xfrm>
          <a:prstGeom prst="roundRect">
            <a:avLst>
              <a:gd name="adj" fmla="val 2817"/>
            </a:avLst>
          </a:prstGeom>
          <a:solidFill>
            <a:srgbClr val="0B3D62"/>
          </a:solidFill>
          <a:ln/>
        </p:spPr>
      </p:sp>
      <p:sp>
        <p:nvSpPr>
          <p:cNvPr id="7" name="Shape 4"/>
          <p:cNvSpPr/>
          <p:nvPr/>
        </p:nvSpPr>
        <p:spPr>
          <a:xfrm>
            <a:off x="8686800" y="214884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8" name="Image 1" descr="/home/claude/icons/icon_octag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8123" y="2220163"/>
            <a:ext cx="405994" cy="4059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0" y="2788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single date stands out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686800" y="3383280"/>
            <a:ext cx="27432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2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&gt;13% </a:t>
            </a:r>
            <a:r>
              <a:rPr lang="en-US" sz="12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readings flagged anomalous on one date — vs. a ~1% baseline average, nearly 3× the next-worst day.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Investigation: </a:t>
            </a:r>
            <a:r>
              <a:rPr lang="en-US" sz="11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Hemisphere cities showing winter conditions in August — Baghdad 40.6°C→17.3°C week-over-week, blizzards recorded in London &amp; Dublin. Flagged as a data pipeline artifact and excluded from modeling.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Trend Forecasting  |  PM Accelerator Technical Assessment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TIER · STEP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Models + Ensemble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17320"/>
          <a:ext cx="64922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754880"/>
          <a:ext cx="6492240" cy="1700784"/>
        </p:xfrm>
        <a:graphic>
          <a:graphicData uri="http://schemas.openxmlformats.org/drawingml/2006/table">
            <a:tbl>
              <a:tblPr/>
              <a:tblGrid>
                <a:gridCol w="1623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3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3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3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SARIMAX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Momentum (lag-based)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 (4-model avg)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223760" y="1417320"/>
            <a:ext cx="4434840" cy="5029200"/>
          </a:xfrm>
          <a:prstGeom prst="roundRect">
            <a:avLst>
              <a:gd name="adj" fmla="val 2062"/>
            </a:avLst>
          </a:prstGeom>
          <a:solidFill>
            <a:srgbClr val="0B3D62"/>
          </a:solidFill>
          <a:ln/>
        </p:spPr>
      </p:sp>
      <p:sp>
        <p:nvSpPr>
          <p:cNvPr id="7" name="Shape 3"/>
          <p:cNvSpPr/>
          <p:nvPr/>
        </p:nvSpPr>
        <p:spPr>
          <a:xfrm>
            <a:off x="7498080" y="169164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8" name="Image 0" descr="/home/claude/icons/icon_mer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9403" y="1762963"/>
            <a:ext cx="405994" cy="40599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498080" y="2331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ensemble doesn't win</a:t>
            </a:r>
            <a:endParaRPr lang="en-US" sz="1700" dirty="0"/>
          </a:p>
        </p:txBody>
      </p:sp>
      <p:sp>
        <p:nvSpPr>
          <p:cNvPr id="5" name="Text 5"/>
          <p:cNvSpPr/>
          <p:nvPr/>
        </p:nvSpPr>
        <p:spPr>
          <a:xfrm>
            <a:off x="7498080" y="2880360"/>
            <a:ext cx="38862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alone matches or beats the 4-model ensemble on every metric.
</a:t>
            </a:r>
            <a:r>
              <a:rPr lang="en-US" sz="12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12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correlation between models was 0.79–0.95 — all four keyed off the same dominant seasonal signal. Averaging correlated models pulls the best one toward the weaker ones instead of cancelling error.
</a:t>
            </a:r>
            <a:r>
              <a:rPr lang="en-US" sz="12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r>
              <a:rPr lang="en-US" sz="12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ensembling adds value in proportion to model diversity — not model count.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Trend Forecasting  |  PM Accelerator Technical Assessment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Actually Showed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082B4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6" name="Image 0" descr="/home/claude/icons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661" y="2131101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1168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"Zero missing values" ≠ clean data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260604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Disguised corruption (physically impossible single-row readings) required a separate physical-plausibility check the missing-value scan couldn't catch.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7830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082B47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2057400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1" name="Image 1" descr="/home/claude/icons/icon_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941" y="2131101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01168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outliers need domain context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223760" y="260604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(altitude) explained most of what looked like pressure anomalies — only 2 of 14 flagged rows were real errors.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082B47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297680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6" name="Image 2" descr="/home/claude/icons/icon_octag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61" y="4371381"/>
            <a:ext cx="419527" cy="419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25196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detection traced a real root cause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54480" y="484632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unexplained dip in the forecasting chart was traced to a specific, evidenced data pipeline event on one date.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40233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082B47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4297680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21" name="Image 3" descr="/home/claude/icons/icon_mer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941" y="4371381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25196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models ≠ better forecasts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223760" y="484632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4-model ensemble underperformed the single best model — diversity between models matters more than how many you combine.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Trend Forecasting  |  PM Accelerator Technical Assessment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F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75688"/>
            <a:ext cx="594360" cy="594360"/>
          </a:xfrm>
          <a:prstGeom prst="ellipse">
            <a:avLst/>
          </a:prstGeom>
          <a:solidFill>
            <a:srgbClr val="4A90B8"/>
          </a:solidFill>
          <a:ln/>
        </p:spPr>
      </p:sp>
      <p:pic>
        <p:nvPicPr>
          <p:cNvPr id="6" name="Image 0" descr="/home/claude/icons/icon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227" y="2152955"/>
            <a:ext cx="439826" cy="4398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56232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 advanced analyses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760720" y="1856232"/>
            <a:ext cx="5623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regional climate patterns, air-quality/weather correlation, formal feature-importance analysis, and spatial/geographic pattern visualization are natural next steps.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264408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FE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3648456"/>
            <a:ext cx="594360" cy="594360"/>
          </a:xfrm>
          <a:prstGeom prst="ellipse">
            <a:avLst/>
          </a:prstGeom>
          <a:solidFill>
            <a:srgbClr val="4A90B8"/>
          </a:solidFill>
          <a:ln/>
        </p:spPr>
      </p:sp>
      <p:pic>
        <p:nvPicPr>
          <p:cNvPr id="11" name="Image 1" descr="/home/claude/icons/icon_calen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227" y="3725723"/>
            <a:ext cx="439826" cy="4398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42900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Day-of-week signal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760720" y="3429000"/>
            <a:ext cx="5623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residuals showed weekends running ~0.2–0.3°C cooler — an interesting lead, but the test window is too small to confirm it isn't noise.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837176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FE3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5221224"/>
            <a:ext cx="594360" cy="594360"/>
          </a:xfrm>
          <a:prstGeom prst="ellipse">
            <a:avLst/>
          </a:prstGeom>
          <a:solidFill>
            <a:srgbClr val="4A90B8"/>
          </a:solidFill>
          <a:ln/>
        </p:spPr>
      </p:sp>
      <p:pic>
        <p:nvPicPr>
          <p:cNvPr id="16" name="Image 2" descr="/home/claude/icons/icon_tr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227" y="5298491"/>
            <a:ext cx="439826" cy="43982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5001768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Rolling-origin backtesting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760720" y="5001768"/>
            <a:ext cx="5623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used a single train/test split. Refitting across multiple split points would give a more robust performance estimate than one fixed holdout.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Trend Forecasting  |  PM Accelerator Technical Assessment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02298" y="-1688896"/>
            <a:ext cx="4273475" cy="418658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134463"/>
          </a:solidFill>
          <a:ln/>
        </p:spPr>
      </p:sp>
      <p:pic>
        <p:nvPicPr>
          <p:cNvPr id="4" name="Image 0" descr="/home/claude/icons/icon_s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945" y="929945"/>
            <a:ext cx="608990" cy="6089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4688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822960" y="3337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code, notebooks, and the README are available in the project repository.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2960" y="4206240"/>
            <a:ext cx="502920" cy="502920"/>
          </a:xfrm>
          <a:prstGeom prst="ellipse">
            <a:avLst/>
          </a:prstGeom>
          <a:solidFill>
            <a:srgbClr val="134463"/>
          </a:solidFill>
          <a:ln/>
        </p:spPr>
      </p:sp>
      <p:pic>
        <p:nvPicPr>
          <p:cNvPr id="8" name="Image 1" descr="/home/claude/icons/icon_githu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340" y="4271620"/>
            <a:ext cx="372161" cy="37216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42519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[https://github.com/josse07/Weather-Trend-Forecasting]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822960" y="4846320"/>
            <a:ext cx="502920" cy="502920"/>
          </a:xfrm>
          <a:prstGeom prst="ellipse">
            <a:avLst/>
          </a:prstGeom>
          <a:solidFill>
            <a:srgbClr val="134463"/>
          </a:solidFill>
          <a:ln/>
        </p:spPr>
      </p:sp>
      <p:pic>
        <p:nvPicPr>
          <p:cNvPr id="11" name="Image 2" descr="/home/claude/icons/icon_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340" y="4911700"/>
            <a:ext cx="372161" cy="37216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63040" y="48920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[https://www.awesomescreenshot.com/video/56167497?key=51e0dc759bda138a40d848525f95090a]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Trend Forecasting  |  PM Accelerator Technical Assessment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1160</Words>
  <Application>Microsoft Office PowerPoint</Application>
  <PresentationFormat>Widescreen</PresentationFormat>
  <Paragraphs>152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Raleway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Ayoola</cp:lastModifiedBy>
  <cp:revision>3</cp:revision>
  <dcterms:created xsi:type="dcterms:W3CDTF">2026-09-03T11:37:35Z</dcterms:created>
  <dcterms:modified xsi:type="dcterms:W3CDTF">2026-09-03T11:58:42Z</dcterms:modified>
</cp:coreProperties>
</file>